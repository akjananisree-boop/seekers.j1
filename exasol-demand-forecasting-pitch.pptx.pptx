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%</c:v>
                </c:pt>
              </c:strCache>
            </c:strRef>
          </c:tx>
          <c:spPr>
            <a:solidFill>
              <a:srgbClr val="19D3B4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A1A2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P01</c:v>
                </c:pt>
                <c:pt idx="1">
                  <c:v>P02</c:v>
                </c:pt>
                <c:pt idx="2">
                  <c:v>P03</c:v>
                </c:pt>
                <c:pt idx="3">
                  <c:v>P04</c:v>
                </c:pt>
                <c:pt idx="4">
                  <c:v>P05</c:v>
                </c:pt>
                <c:pt idx="5">
                  <c:v>P06</c:v>
                </c:pt>
                <c:pt idx="6">
                  <c:v>P07</c:v>
                </c:pt>
                <c:pt idx="7">
                  <c:v>P08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14.2</c:v>
                </c:pt>
                <c:pt idx="1">
                  <c:v>12.8</c:v>
                </c:pt>
                <c:pt idx="2">
                  <c:v>18.5</c:v>
                </c:pt>
                <c:pt idx="3">
                  <c:v>13.1</c:v>
                </c:pt>
                <c:pt idx="4">
                  <c:v>21.4</c:v>
                </c:pt>
                <c:pt idx="5">
                  <c:v>19</c:v>
                </c:pt>
                <c:pt idx="6">
                  <c:v>15.6</c:v>
                </c:pt>
                <c:pt idx="7">
                  <c:v>17.2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D7-4115-A034-334D0F7ED60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81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81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7F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4F7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38100" cap="flat">
              <a:solidFill>
                <a:srgbClr val="19D3B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9D3B4"/>
              </a:solidFill>
              <a:ln w="9525" cap="flat">
                <a:solidFill>
                  <a:srgbClr val="19D3B4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820</c:v>
                </c:pt>
                <c:pt idx="1">
                  <c:v>910</c:v>
                </c:pt>
                <c:pt idx="2">
                  <c:v>870</c:v>
                </c:pt>
                <c:pt idx="3">
                  <c:v>1040</c:v>
                </c:pt>
                <c:pt idx="4">
                  <c:v>990</c:v>
                </c:pt>
                <c:pt idx="5">
                  <c:v>1180</c:v>
                </c:pt>
                <c:pt idx="6">
                  <c:v>1120</c:v>
                </c:pt>
                <c:pt idx="7">
                  <c:v>1260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8DE-4143-BDF5-66E32FECF44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</c:v>
                </c:pt>
              </c:strCache>
            </c:strRef>
          </c:tx>
          <c:spPr>
            <a:ln w="38100" cap="flat">
              <a:solidFill>
                <a:srgbClr val="FFB44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B443"/>
              </a:solidFill>
              <a:ln w="9525" cap="flat">
                <a:solidFill>
                  <a:srgbClr val="FFB443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800</c:v>
                </c:pt>
                <c:pt idx="1">
                  <c:v>930</c:v>
                </c:pt>
                <c:pt idx="2">
                  <c:v>880</c:v>
                </c:pt>
                <c:pt idx="3">
                  <c:v>1010</c:v>
                </c:pt>
                <c:pt idx="4">
                  <c:v>1020</c:v>
                </c:pt>
                <c:pt idx="5">
                  <c:v>1150</c:v>
                </c:pt>
                <c:pt idx="6">
                  <c:v>1160</c:v>
                </c:pt>
                <c:pt idx="7">
                  <c:v>1240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A8DE-4143-BDF5-66E32FECF4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6C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6C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1A2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FB6C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A1A2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2412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9D3B4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0" y="914400"/>
            <a:ext cx="3291840" cy="3291840"/>
          </a:xfrm>
          <a:prstGeom prst="ellipse">
            <a:avLst/>
          </a:prstGeom>
          <a:solidFill>
            <a:srgbClr val="13294A"/>
          </a:solidFill>
          <a:ln/>
        </p:spPr>
      </p:sp>
      <p:sp>
        <p:nvSpPr>
          <p:cNvPr id="4" name="Shape 2"/>
          <p:cNvSpPr/>
          <p:nvPr/>
        </p:nvSpPr>
        <p:spPr>
          <a:xfrm>
            <a:off x="7223760" y="1645920"/>
            <a:ext cx="1828800" cy="1828800"/>
          </a:xfrm>
          <a:prstGeom prst="ellipse">
            <a:avLst/>
          </a:prstGeom>
          <a:solidFill>
            <a:srgbClr val="19D3B4"/>
          </a:solidFill>
          <a:ln w="12700">
            <a:solidFill>
              <a:srgbClr val="19D3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0" y="2148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A1A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22376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AHEAD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9D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EXASOL AI BUILD CHALLENGE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5760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Sales History</a:t>
            </a:r>
            <a:endParaRPr lang="en-US" sz="40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Reorder Decisions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3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demand forecasting built end to end on Exasol Personal — every forecast ends in an action, not a chart.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2011680" cy="27432"/>
          </a:xfrm>
          <a:prstGeom prst="rect">
            <a:avLst/>
          </a:prstGeom>
          <a:solidFill>
            <a:srgbClr val="19D3B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041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SEEKERS.S  ·  Track: AI for Decision Intelligence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9D3B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9D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A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Retail reordering is still guesswork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Exasol AI Build Challenge 2026 · Decision Intelligence Track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A1A2F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17320"/>
            <a:ext cx="54864" cy="1600200"/>
          </a:xfrm>
          <a:prstGeom prst="rect">
            <a:avLst/>
          </a:prstGeom>
          <a:solidFill>
            <a:srgbClr val="19D3B4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1645920"/>
            <a:ext cx="310896" cy="310896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16459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A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Overstock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13232" y="212140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movers pile up, locking cash into shelf space nobody is buying.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141732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A1A2F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417320"/>
            <a:ext cx="54864" cy="1600200"/>
          </a:xfrm>
          <a:prstGeom prst="rect">
            <a:avLst/>
          </a:prstGeom>
          <a:solidFill>
            <a:srgbClr val="19D3B4"/>
          </a:solidFill>
          <a:ln/>
        </p:spPr>
      </p:sp>
      <p:sp>
        <p:nvSpPr>
          <p:cNvPr id="14" name="Shape 12"/>
          <p:cNvSpPr/>
          <p:nvPr/>
        </p:nvSpPr>
        <p:spPr>
          <a:xfrm>
            <a:off x="3547872" y="1645920"/>
            <a:ext cx="310896" cy="310896"/>
          </a:xfrm>
          <a:prstGeom prst="ellipse">
            <a:avLst/>
          </a:prstGeom>
          <a:solidFill>
            <a:srgbClr val="FFB443"/>
          </a:solidFill>
          <a:ln/>
        </p:spPr>
      </p:sp>
      <p:sp>
        <p:nvSpPr>
          <p:cNvPr id="15" name="Text 13"/>
          <p:cNvSpPr/>
          <p:nvPr/>
        </p:nvSpPr>
        <p:spPr>
          <a:xfrm>
            <a:off x="3977640" y="16459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A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Stockouts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547872" y="212140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movers vanish at peak demand — lost sales and lost customers.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41732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A1A2F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417320"/>
            <a:ext cx="54864" cy="1600200"/>
          </a:xfrm>
          <a:prstGeom prst="rect">
            <a:avLst/>
          </a:prstGeom>
          <a:solidFill>
            <a:srgbClr val="19D3B4"/>
          </a:solidFill>
          <a:ln/>
        </p:spPr>
      </p:sp>
      <p:sp>
        <p:nvSpPr>
          <p:cNvPr id="19" name="Shape 17"/>
          <p:cNvSpPr/>
          <p:nvPr/>
        </p:nvSpPr>
        <p:spPr>
          <a:xfrm>
            <a:off x="6382512" y="1645920"/>
            <a:ext cx="310896" cy="310896"/>
          </a:xfrm>
          <a:prstGeom prst="ellipse">
            <a:avLst/>
          </a:prstGeom>
          <a:solidFill>
            <a:srgbClr val="19D3B4"/>
          </a:solidFill>
          <a:ln/>
        </p:spPr>
      </p:sp>
      <p:sp>
        <p:nvSpPr>
          <p:cNvPr id="20" name="Text 18"/>
          <p:cNvSpPr/>
          <p:nvPr/>
        </p:nvSpPr>
        <p:spPr>
          <a:xfrm>
            <a:off x="6812280" y="16459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A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Blind spots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382512" y="212140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and festive spikes get noticed only after the week is over.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310128"/>
            <a:ext cx="8229600" cy="1051560"/>
          </a:xfrm>
          <a:prstGeom prst="rect">
            <a:avLst/>
          </a:prstGeom>
          <a:solidFill>
            <a:srgbClr val="13294A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5204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9D3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2%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2011680" y="35661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store-days in our dataset already record a stockout.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is revenue that walked out of the store — and none of it was predicted.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9D3B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9D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A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Forecast 14 days ahead — then decide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Exasol AI Build Challenge 2026 · Decision Intelligence Track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forecast per store and product, converted the same day into a concrete reorder quantity.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938528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A1A2F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691640"/>
            <a:ext cx="54864" cy="1920240"/>
          </a:xfrm>
          <a:prstGeom prst="rect">
            <a:avLst/>
          </a:prstGeom>
          <a:solidFill>
            <a:srgbClr val="19D3B4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" y="1874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9D3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94944" y="22860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A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4944" y="2615184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/ CSV sales land in SALES_RAW inside Exasol Personal.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414016" y="23774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9D3B4"/>
                </a:solidFill>
              </a:rPr>
              <a:t>›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578608" y="1691640"/>
            <a:ext cx="1938528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A1A2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78608" y="1691640"/>
            <a:ext cx="54864" cy="1920240"/>
          </a:xfrm>
          <a:prstGeom prst="rect">
            <a:avLst/>
          </a:prstGeom>
          <a:solidFill>
            <a:srgbClr val="19D3B4"/>
          </a:solidFill>
          <a:ln/>
        </p:spPr>
      </p:sp>
      <p:sp>
        <p:nvSpPr>
          <p:cNvPr id="16" name="Text 14"/>
          <p:cNvSpPr/>
          <p:nvPr/>
        </p:nvSpPr>
        <p:spPr>
          <a:xfrm>
            <a:off x="2816352" y="1874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9D3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816352" y="22860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A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Aggregate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816352" y="2615184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views roll up daily and weekly demand in-database.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35424" y="23774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9D3B4"/>
                </a:solidFill>
              </a:rPr>
              <a:t>›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700016" y="1691640"/>
            <a:ext cx="1938528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A1A2F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0016" y="1691640"/>
            <a:ext cx="54864" cy="1920240"/>
          </a:xfrm>
          <a:prstGeom prst="rect">
            <a:avLst/>
          </a:prstGeom>
          <a:solidFill>
            <a:srgbClr val="19D3B4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1874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9D3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937760" y="22860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A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Forecast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37760" y="2615184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predicts the next 14 days per pair.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656832" y="23774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9D3B4"/>
                </a:solidFill>
              </a:rPr>
              <a:t>›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821424" y="1691640"/>
            <a:ext cx="1938528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A1A2F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21424" y="1691640"/>
            <a:ext cx="54864" cy="1920240"/>
          </a:xfrm>
          <a:prstGeom prst="rect">
            <a:avLst/>
          </a:prstGeom>
          <a:solidFill>
            <a:srgbClr val="19D3B4"/>
          </a:solidFill>
          <a:ln/>
        </p:spPr>
      </p:sp>
      <p:sp>
        <p:nvSpPr>
          <p:cNvPr id="28" name="Text 26"/>
          <p:cNvSpPr/>
          <p:nvPr/>
        </p:nvSpPr>
        <p:spPr>
          <a:xfrm>
            <a:off x="7059168" y="1874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9D3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059168" y="22860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A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59168" y="2615184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quantity + anomaly flag, ready for the buyer.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is not a chart. It is a decision: reorder this much, before this date.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9D3B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9D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A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Exasol Personal is the spine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Exasol AI Build Challenge 2026 · Decision Intelligence Track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1938528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A1A2F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1938528" cy="54864"/>
          </a:xfrm>
          <a:prstGeom prst="rect">
            <a:avLst/>
          </a:prstGeom>
          <a:solidFill>
            <a:srgbClr val="DCE5E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91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A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Raw sales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0574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POS feed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95728" y="19659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9D3B4"/>
                </a:solidFill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578608" y="1463040"/>
            <a:ext cx="1938528" cy="1325880"/>
          </a:xfrm>
          <a:prstGeom prst="rect">
            <a:avLst/>
          </a:prstGeom>
          <a:solidFill>
            <a:srgbClr val="13294A"/>
          </a:solidFill>
          <a:ln/>
          <a:effectLst>
            <a:outerShdw blurRad="127000" dist="25400" dir="5400000" algn="bl" rotWithShape="0">
              <a:srgbClr val="0A1A2F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78608" y="1463040"/>
            <a:ext cx="1938528" cy="54864"/>
          </a:xfrm>
          <a:prstGeom prst="rect">
            <a:avLst/>
          </a:prstGeom>
          <a:solidFill>
            <a:srgbClr val="19D3B4"/>
          </a:solidFill>
          <a:ln/>
        </p:spPr>
      </p:sp>
      <p:sp>
        <p:nvSpPr>
          <p:cNvPr id="14" name="Text 12"/>
          <p:cNvSpPr/>
          <p:nvPr/>
        </p:nvSpPr>
        <p:spPr>
          <a:xfrm>
            <a:off x="2761488" y="1691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Exasol Personal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61488" y="20574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SALES_RAW + SQL views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17136" y="19659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9D3B4"/>
                </a:solidFill>
              </a:rPr>
              <a:t>→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700016" y="1463040"/>
            <a:ext cx="1938528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A1A2F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0016" y="1463040"/>
            <a:ext cx="1938528" cy="54864"/>
          </a:xfrm>
          <a:prstGeom prst="rect">
            <a:avLst/>
          </a:prstGeom>
          <a:solidFill>
            <a:srgbClr val="DCE5ED"/>
          </a:solidFill>
          <a:ln/>
        </p:spPr>
      </p:sp>
      <p:sp>
        <p:nvSpPr>
          <p:cNvPr id="19" name="Text 17"/>
          <p:cNvSpPr/>
          <p:nvPr/>
        </p:nvSpPr>
        <p:spPr>
          <a:xfrm>
            <a:off x="4882896" y="1691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A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layer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82896" y="20574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38544" y="19659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9D3B4"/>
                </a:solidFill>
              </a:rPr>
              <a:t>→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821424" y="1463040"/>
            <a:ext cx="1938528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A1A2F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21424" y="1463040"/>
            <a:ext cx="1938528" cy="54864"/>
          </a:xfrm>
          <a:prstGeom prst="rect">
            <a:avLst/>
          </a:prstGeom>
          <a:solidFill>
            <a:srgbClr val="DCE5ED"/>
          </a:solidFill>
          <a:ln/>
        </p:spPr>
      </p:sp>
      <p:sp>
        <p:nvSpPr>
          <p:cNvPr id="24" name="Text 22"/>
          <p:cNvSpPr/>
          <p:nvPr/>
        </p:nvSpPr>
        <p:spPr>
          <a:xfrm>
            <a:off x="7004304" y="1691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A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layer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004304" y="20574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+ anomalies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306324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A1A2F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063240"/>
            <a:ext cx="54864" cy="1280160"/>
          </a:xfrm>
          <a:prstGeom prst="rect">
            <a:avLst/>
          </a:prstGeom>
          <a:solidFill>
            <a:srgbClr val="19D3B4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A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Streamlit dashboard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7724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curves, KPI header and the reorder table — all read straight from Exasol views, so the dashboard and the model can never disagree.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9D3B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9D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EXASOL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A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the database does the heavy lifting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Exasol AI Build Challenge 2026 · Decision Intelligence Track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402336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A1A2F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17320"/>
            <a:ext cx="54864" cy="1298448"/>
          </a:xfrm>
          <a:prstGeom prst="rect">
            <a:avLst/>
          </a:prstGeom>
          <a:solidFill>
            <a:srgbClr val="19D3B4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6002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A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In-database aggregation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" y="194767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VW_DAILY_DEMAND and VW_WEEKLY_DEMAND are SQL views, not pandas code — logic lives where the data lives.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402336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A1A2F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417320"/>
            <a:ext cx="54864" cy="1298448"/>
          </a:xfrm>
          <a:prstGeom prst="rect">
            <a:avLst/>
          </a:prstGeom>
          <a:solidFill>
            <a:srgbClr val="19D3B4"/>
          </a:solidFill>
          <a:ln/>
        </p:spPr>
      </p:sp>
      <p:sp>
        <p:nvSpPr>
          <p:cNvPr id="13" name="Text 11"/>
          <p:cNvSpPr/>
          <p:nvPr/>
        </p:nvSpPr>
        <p:spPr>
          <a:xfrm>
            <a:off x="4919472" y="16002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A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Anomaly detection in SQL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19472" y="194767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VW_DEMAND_ANOMALIES uses window functions to flag spikes and drops before Python ever runs.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402336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A1A2F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880360"/>
            <a:ext cx="54864" cy="1298448"/>
          </a:xfrm>
          <a:prstGeom prst="rect">
            <a:avLst/>
          </a:prstGeom>
          <a:solidFill>
            <a:srgbClr val="19D3B4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0632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A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 reads, fast models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3232" y="341071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only ever pulls pre-aggregated rows, so retraining stays fast as history grows.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402336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A1A2F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880360"/>
            <a:ext cx="54864" cy="1298448"/>
          </a:xfrm>
          <a:prstGeom prst="rect">
            <a:avLst/>
          </a:prstGeom>
          <a:solidFill>
            <a:srgbClr val="19D3B4"/>
          </a:solidFill>
          <a:ln/>
        </p:spPr>
      </p:sp>
      <p:sp>
        <p:nvSpPr>
          <p:cNvPr id="21" name="Text 19"/>
          <p:cNvSpPr/>
          <p:nvPr/>
        </p:nvSpPr>
        <p:spPr>
          <a:xfrm>
            <a:off x="4919472" y="30632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A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source of truth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19472" y="341071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SALES_RAW feeds the model, the dashboard and the audit trail from a single table.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the compute to Exasol; keep the Python layer thin and explainable.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9D3B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9D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A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model per store-product pair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Exasol AI Build Challenge 2026 · Decision Intelligence Track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A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set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week and month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and holiday flag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promotion flag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Lag-7 and lag-14 demand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7 / 14-day mean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32918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A1A2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246120"/>
            <a:ext cx="54864" cy="1097280"/>
          </a:xfrm>
          <a:prstGeom prst="rect">
            <a:avLst/>
          </a:prstGeom>
          <a:solidFill>
            <a:srgbClr val="19D3B4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34015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9D3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12–22%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13232" y="38587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MAE across store-product pairs</a:t>
            </a:r>
            <a:endParaRPr lang="en-US" sz="115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3977640" y="1234440"/>
          <a:ext cx="47091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 11"/>
          <p:cNvSpPr/>
          <p:nvPr/>
        </p:nvSpPr>
        <p:spPr>
          <a:xfrm>
            <a:off x="3977640" y="431596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error by product (MAE %) — lower is better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9D3B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9D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dashboard a buyer opens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938528" cy="960120"/>
          </a:xfrm>
          <a:prstGeom prst="rect">
            <a:avLst/>
          </a:prstGeom>
          <a:solidFill>
            <a:srgbClr val="13294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9D3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₹42.6L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18836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78608" y="1325880"/>
            <a:ext cx="1938528" cy="960120"/>
          </a:xfrm>
          <a:prstGeom prst="rect">
            <a:avLst/>
          </a:prstGeom>
          <a:solidFill>
            <a:srgbClr val="13294A"/>
          </a:solidFill>
          <a:ln/>
        </p:spPr>
      </p:sp>
      <p:sp>
        <p:nvSpPr>
          <p:cNvPr id="9" name="Text 7"/>
          <p:cNvSpPr/>
          <p:nvPr/>
        </p:nvSpPr>
        <p:spPr>
          <a:xfrm>
            <a:off x="2761488" y="1463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9D3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1,84,320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61488" y="18836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0016" y="1325880"/>
            <a:ext cx="1938528" cy="960120"/>
          </a:xfrm>
          <a:prstGeom prst="rect">
            <a:avLst/>
          </a:prstGeom>
          <a:solidFill>
            <a:srgbClr val="13294A"/>
          </a:solidFill>
          <a:ln/>
        </p:spPr>
      </p:sp>
      <p:sp>
        <p:nvSpPr>
          <p:cNvPr id="12" name="Text 10"/>
          <p:cNvSpPr/>
          <p:nvPr/>
        </p:nvSpPr>
        <p:spPr>
          <a:xfrm>
            <a:off x="4882896" y="1463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9D3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16.4%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82896" y="18836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MAE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21424" y="1325880"/>
            <a:ext cx="1938528" cy="960120"/>
          </a:xfrm>
          <a:prstGeom prst="rect">
            <a:avLst/>
          </a:prstGeom>
          <a:solidFill>
            <a:srgbClr val="13294A"/>
          </a:solidFill>
          <a:ln/>
        </p:spPr>
      </p:sp>
      <p:sp>
        <p:nvSpPr>
          <p:cNvPr id="15" name="Text 13"/>
          <p:cNvSpPr/>
          <p:nvPr/>
        </p:nvSpPr>
        <p:spPr>
          <a:xfrm>
            <a:off x="7004304" y="1463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9D3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342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004304" y="18836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days</a:t>
            </a:r>
            <a:endParaRPr lang="en-US" sz="11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457200" y="2468880"/>
          <a:ext cx="521208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5897880" y="2468880"/>
            <a:ext cx="2788920" cy="1874520"/>
          </a:xfrm>
          <a:prstGeom prst="rect">
            <a:avLst/>
          </a:prstGeom>
          <a:solidFill>
            <a:srgbClr val="13294A"/>
          </a:solidFill>
          <a:ln/>
        </p:spPr>
      </p:sp>
      <p:sp>
        <p:nvSpPr>
          <p:cNvPr id="19" name="Text 16"/>
          <p:cNvSpPr/>
          <p:nvPr/>
        </p:nvSpPr>
        <p:spPr>
          <a:xfrm>
            <a:off x="6126480" y="2606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9D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QUEUE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1264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P02 · S01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406640" y="2926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B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 units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126480" y="33649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P07 · S03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40664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B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 units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126480" y="38039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P04 · S02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406640" y="38039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B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units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9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Exasol AI Build Challenge 2026 · Decision Intelligence Track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9D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9D3B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9D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INTELLIGENCE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A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forecast informs. A decision pays.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Exasol AI Build Challenge 2026 · Decision Intelligence Track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402336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A1A2F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71600"/>
            <a:ext cx="4023360" cy="54864"/>
          </a:xfrm>
          <a:prstGeom prst="rect">
            <a:avLst/>
          </a:prstGeom>
          <a:solidFill>
            <a:srgbClr val="DCE5ED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6002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FORECASTING TOOLS STOP HERE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19659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A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“Product P02 will sell about 42 units next Tuesday.”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13232" y="288036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Accurate, but someone still has to translate it into a purchase order — and usually doesn't.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4023360" cy="2651760"/>
          </a:xfrm>
          <a:prstGeom prst="rect">
            <a:avLst/>
          </a:prstGeom>
          <a:solidFill>
            <a:srgbClr val="13294A"/>
          </a:solidFill>
          <a:ln/>
          <a:effectLst>
            <a:outerShdw blurRad="127000" dist="25400" dir="5400000" algn="bl" rotWithShape="0">
              <a:srgbClr val="0A1A2F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371600"/>
            <a:ext cx="4023360" cy="54864"/>
          </a:xfrm>
          <a:prstGeom prst="rect">
            <a:avLst/>
          </a:prstGeom>
          <a:solidFill>
            <a:srgbClr val="19D3B4"/>
          </a:solidFill>
          <a:ln/>
        </p:spPr>
      </p:sp>
      <p:sp>
        <p:nvSpPr>
          <p:cNvPr id="14" name="Text 12"/>
          <p:cNvSpPr/>
          <p:nvPr/>
        </p:nvSpPr>
        <p:spPr>
          <a:xfrm>
            <a:off x="4919472" y="16002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9D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GO ONE STEP FURTHER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9472" y="19659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“Reorder 210 units of P02 for Store S01 before Friday.”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919472" y="288036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F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and safety stock are already baked in, and in-database anomaly flags can raise the alert before the shelf empties.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model. The difference is who has to think next.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9D3B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9D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A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is worth in a real store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Exasol AI Build Challenge 2026 · Decision Intelligence Track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on our sample dataset — replace with your own baseline before the final pitch.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A1A2F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600200"/>
            <a:ext cx="54864" cy="1828800"/>
          </a:xfrm>
          <a:prstGeom prst="rect">
            <a:avLst/>
          </a:prstGeom>
          <a:solidFill>
            <a:srgbClr val="19D3B4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18105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9D3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↓ Stockouts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" y="22860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spike detection turns a 2% stockout rate into an alert, not a post-mortem.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91840" y="160020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A1A2F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600200"/>
            <a:ext cx="54864" cy="1828800"/>
          </a:xfrm>
          <a:prstGeom prst="rect">
            <a:avLst/>
          </a:prstGeom>
          <a:solidFill>
            <a:srgbClr val="19D3B4"/>
          </a:solidFill>
          <a:ln/>
        </p:spPr>
      </p:sp>
      <p:sp>
        <p:nvSpPr>
          <p:cNvPr id="14" name="Text 12"/>
          <p:cNvSpPr/>
          <p:nvPr/>
        </p:nvSpPr>
        <p:spPr>
          <a:xfrm>
            <a:off x="3547872" y="18105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9D3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↓ Idle stock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547872" y="22860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movers stop getting auto-reordered on habit and gut feel.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0" y="160020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A1A2F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600200"/>
            <a:ext cx="54864" cy="1828800"/>
          </a:xfrm>
          <a:prstGeom prst="rect">
            <a:avLst/>
          </a:prstGeom>
          <a:solidFill>
            <a:srgbClr val="19D3B4"/>
          </a:solidFill>
          <a:ln/>
        </p:spPr>
      </p:sp>
      <p:sp>
        <p:nvSpPr>
          <p:cNvPr id="18" name="Text 16"/>
          <p:cNvSpPr/>
          <p:nvPr/>
        </p:nvSpPr>
        <p:spPr>
          <a:xfrm>
            <a:off x="6382512" y="18105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9D3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↑ Buyer speed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382512" y="22860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ranked reorder queue replaces a spreadsheet review per store.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8229600" cy="658368"/>
          </a:xfrm>
          <a:prstGeom prst="rect">
            <a:avLst/>
          </a:prstGeom>
          <a:solidFill>
            <a:srgbClr val="13294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8404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during the hackathon window on Exasol Personal — schema, views, model and dashboard.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9D3B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9D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A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we take it after the deadline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Exasol AI Build Challenge 2026 · Decision Intelligence Track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8229600" cy="87782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A1A2F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25880"/>
            <a:ext cx="54864" cy="877824"/>
          </a:xfrm>
          <a:prstGeom prst="rect">
            <a:avLst/>
          </a:prstGeom>
          <a:solidFill>
            <a:srgbClr val="19D3B4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5087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9D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17647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A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alerts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0" y="1581912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VW_DEMAND_ANOMALIES into Slack and email the moment a spike or drop appears.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313432"/>
            <a:ext cx="8229600" cy="87782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A1A2F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13432"/>
            <a:ext cx="54864" cy="877824"/>
          </a:xfrm>
          <a:prstGeom prst="rect">
            <a:avLst/>
          </a:prstGeom>
          <a:solidFill>
            <a:srgbClr val="19D3B4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24963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9D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" y="275234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A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global model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00400" y="2569464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per-pair models with store/product embeddings — faster retraining, better cold-start.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300984"/>
            <a:ext cx="8229600" cy="87782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A1A2F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300984"/>
            <a:ext cx="54864" cy="877824"/>
          </a:xfrm>
          <a:prstGeom prst="rect">
            <a:avLst/>
          </a:prstGeom>
          <a:solidFill>
            <a:srgbClr val="19D3B4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34838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9D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3232" y="37398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A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Promotion timing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00400" y="3557016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price elasticity so the system recommends when to promote, not just how much to stock.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4407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above stays inside Exasol — no second data platform required.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9D3B4"/>
          </a:solidFill>
          <a:ln/>
        </p:spPr>
      </p:sp>
      <p:sp>
        <p:nvSpPr>
          <p:cNvPr id="3" name="Shape 1"/>
          <p:cNvSpPr/>
          <p:nvPr/>
        </p:nvSpPr>
        <p:spPr>
          <a:xfrm>
            <a:off x="6766560" y="1371600"/>
            <a:ext cx="2377440" cy="2377440"/>
          </a:xfrm>
          <a:prstGeom prst="ellipse">
            <a:avLst/>
          </a:prstGeom>
          <a:solidFill>
            <a:srgbClr val="1329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9D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Forecasts are easy.</a:t>
            </a:r>
            <a:endParaRPr lang="en-US" sz="34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Decisions are the product.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2011680" cy="27432"/>
          </a:xfrm>
          <a:prstGeom prst="rect">
            <a:avLst/>
          </a:prstGeom>
          <a:solidFill>
            <a:srgbClr val="19D3B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4290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3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github.com/A1BM/SEEKERS.S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3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SEEKERS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C3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Name: 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C3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JANANISREE A.K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C3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KALAIVANI G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C3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MADHUMITHRA A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C3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MANJASHREE P.A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C3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	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3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AI for Decision Intelligence · Exasol Personal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9D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916</Words>
  <Application>Microsoft Office PowerPoint</Application>
  <PresentationFormat>On-screen Show (16:9)</PresentationFormat>
  <Paragraphs>165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Demand Forecasting on Exasol Personal</dc:title>
  <dc:subject>PptxGenJS Presentation</dc:subject>
  <dc:creator>Team SEEKERS.S</dc:creator>
  <cp:lastModifiedBy>Madhumitra Madhumitra</cp:lastModifiedBy>
  <cp:revision>3</cp:revision>
  <dcterms:created xsi:type="dcterms:W3CDTF">2026-08-19T06:06:24Z</dcterms:created>
  <dcterms:modified xsi:type="dcterms:W3CDTF">2026-08-19T00:19:06Z</dcterms:modified>
</cp:coreProperties>
</file>